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64" r:id="rId4"/>
    <p:sldId id="258" r:id="rId5"/>
    <p:sldId id="260" r:id="rId6"/>
    <p:sldId id="259" r:id="rId7"/>
    <p:sldId id="261" r:id="rId8"/>
    <p:sldId id="257"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1332" autoAdjust="0"/>
  </p:normalViewPr>
  <p:slideViewPr>
    <p:cSldViewPr snapToGrid="0">
      <p:cViewPr varScale="1">
        <p:scale>
          <a:sx n="45" d="100"/>
          <a:sy n="45" d="100"/>
        </p:scale>
        <p:origin x="2994"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194CA4-0C8D-4DB8-8B24-F90400AC67A6}"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2B9E6-CFD0-4C5D-B4A0-3C33F882623F}" type="slidenum">
              <a:rPr lang="en-US" smtClean="0"/>
              <a:t>‹#›</a:t>
            </a:fld>
            <a:endParaRPr lang="en-US"/>
          </a:p>
        </p:txBody>
      </p:sp>
    </p:spTree>
    <p:extLst>
      <p:ext uri="{BB962C8B-B14F-4D97-AF65-F5344CB8AC3E}">
        <p14:creationId xmlns:p14="http://schemas.microsoft.com/office/powerpoint/2010/main" val="382235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us-east-1.console.aws.amazon.com/servicequotas/home/services/organizations/quotas/L-89722F41"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github.com/ekristen/aws-nuk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buNone/>
            </a:pPr>
            <a:r>
              <a:rPr lang="en-US" sz="1800" b="1" dirty="0">
                <a:solidFill>
                  <a:srgbClr val="000000"/>
                </a:solidFill>
                <a:effectLst/>
                <a:latin typeface="Aptos" panose="020B0004020202020204" pitchFamily="34" charset="0"/>
              </a:rPr>
              <a:t>The Lack of an AWS Identity Center API to Disable Users is a Security Concern and inconsistent</a:t>
            </a:r>
            <a:endParaRPr lang="en-US" sz="1800" dirty="0">
              <a:solidFill>
                <a:srgbClr val="000000"/>
              </a:solidFill>
              <a:effectLst/>
              <a:latin typeface="Aptos" panose="020B0004020202020204" pitchFamily="34" charset="0"/>
            </a:endParaRPr>
          </a:p>
          <a:p>
            <a:pPr marL="0" marR="0">
              <a:buNone/>
            </a:pPr>
            <a:r>
              <a:rPr lang="en-US" sz="1800" dirty="0">
                <a:solidFill>
                  <a:srgbClr val="000000"/>
                </a:solidFill>
                <a:effectLst/>
                <a:latin typeface="Aptos" panose="020B0004020202020204" pitchFamily="34" charset="0"/>
              </a:rPr>
              <a:t>I would like to open a request from us an AWS Premier Partner and user about this and ask that it be made a feature enhancement.</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My concern is that an IDC User can be disabled in the AWS Console in the IDC Service but this feature is not available through the IDC API.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The lack of an API to disable/enable users in AWS Identity Center is not the best solution for security or efficiency. The reliance on manual intervention in the UI is inconsistent with the general AWS approach of providing programmatic control through APIs, making it difficult to automate security practices at scale.</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The IDC Service in the AWS Console is capable of disabling the User so an API exists, this request asks that this important DevOps and security related API be enabled for general use.</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Here are a few key reasons why the limitation is not ideal:</a:t>
            </a:r>
          </a:p>
          <a:p>
            <a:pPr rtl="0" fontAlgn="ctr">
              <a:buFont typeface="+mj-lt"/>
              <a:buAutoNum type="arabicPeriod"/>
            </a:pPr>
            <a:r>
              <a:rPr lang="en-US" sz="1800" b="1" i="0" dirty="0">
                <a:solidFill>
                  <a:srgbClr val="000000"/>
                </a:solidFill>
                <a:effectLst/>
                <a:latin typeface="Aptos" panose="020B0004020202020204" pitchFamily="34" charset="0"/>
              </a:rPr>
              <a:t>Automation and Security Gaps:</a:t>
            </a:r>
            <a:r>
              <a:rPr lang="en-US" sz="1800" b="0" i="0" dirty="0">
                <a:solidFill>
                  <a:srgbClr val="000000"/>
                </a:solidFill>
                <a:effectLst/>
                <a:latin typeface="Aptos" panose="020B0004020202020204" pitchFamily="34" charset="0"/>
              </a:rPr>
              <a:t> In modern cloud environments, automation is a crucial part of managing security at scale. When user provisioning, permission assignments, or role changes are done programmatically through scripts, it allows for consistency, speed, and a reduction of manual error. However, without the ability to disable or enable a user programmatically, there's a security gap. Imagine a scenario where automated workflows detect suspicious activity or compromised credentials — the system should be able to immediately disable the user as part of an Incident Response (IR) playbook. Relying on manual intervention introduces delays and increases risk, which is particularly concerning in environments where security is "Job 0" as it is at AWS.</a:t>
            </a:r>
            <a:endParaRPr lang="en-US" sz="1800" b="1" i="0" dirty="0">
              <a:solidFill>
                <a:srgbClr val="000000"/>
              </a:solidFill>
              <a:effectLst/>
              <a:latin typeface="Calibri" panose="020F0502020204030204" pitchFamily="34" charset="0"/>
            </a:endParaRPr>
          </a:p>
          <a:p>
            <a:pPr marL="342900" marR="0">
              <a:buNone/>
            </a:pPr>
            <a:r>
              <a:rPr lang="en-US" sz="1800" dirty="0">
                <a:solidFill>
                  <a:srgbClr val="000000"/>
                </a:solidFill>
                <a:effectLst/>
                <a:latin typeface="Calibri" panose="020F0502020204030204" pitchFamily="34" charset="0"/>
              </a:rPr>
              <a:t> </a:t>
            </a:r>
          </a:p>
          <a:p>
            <a:pPr marL="342900" marR="0">
              <a:buNone/>
            </a:pPr>
            <a:r>
              <a:rPr lang="en-US" sz="1800" dirty="0">
                <a:solidFill>
                  <a:srgbClr val="000000"/>
                </a:solidFill>
                <a:effectLst/>
                <a:latin typeface="Aptos" panose="020B0004020202020204" pitchFamily="34" charset="0"/>
              </a:rPr>
              <a:t>I should be able to disable a user but not have to change their profile as is the current suggested approach so I can re-enable them as they were when needed.  This is also a security audit and compliance issue and an increased operation overhead issue</a:t>
            </a:r>
          </a:p>
          <a:p>
            <a:pPr marL="342900" marR="0">
              <a:buNone/>
            </a:pPr>
            <a:r>
              <a:rPr lang="en-US" sz="1800" dirty="0">
                <a:solidFill>
                  <a:srgbClr val="000000"/>
                </a:solidFill>
                <a:effectLst/>
                <a:latin typeface="Calibri" panose="020F0502020204030204" pitchFamily="34" charset="0"/>
              </a:rPr>
              <a:t> </a:t>
            </a:r>
          </a:p>
          <a:p>
            <a:pPr rtl="0" fontAlgn="ctr">
              <a:buFont typeface="+mj-lt"/>
              <a:buAutoNum type="arabicPeriod" startAt="2"/>
            </a:pPr>
            <a:r>
              <a:rPr lang="en-US" sz="1800" b="1" i="0" dirty="0">
                <a:solidFill>
                  <a:srgbClr val="000000"/>
                </a:solidFill>
                <a:effectLst/>
                <a:latin typeface="Aptos" panose="020B0004020202020204" pitchFamily="34" charset="0"/>
              </a:rPr>
              <a:t>Inconsistent User Management:</a:t>
            </a:r>
            <a:r>
              <a:rPr lang="en-US" sz="1800" b="0" i="0" dirty="0">
                <a:solidFill>
                  <a:srgbClr val="000000"/>
                </a:solidFill>
                <a:effectLst/>
                <a:latin typeface="Aptos" panose="020B0004020202020204" pitchFamily="34" charset="0"/>
              </a:rPr>
              <a:t> The fact that AWS Identity Center allows for disabling users via the UI but does not provide an equivalent API introduces an inconsistency. AWS services are often praised for their robust API support, allowing for programmatic control over almost every aspect of infrastructure and services. This inconsistency creates additional overhead for administrators who need to manage users across potentially hundreds of accounts and regions. Managing user access through the by "click-ops" though the UI is inefficient and error-prone compared to automated, verifiable, and scripted workflows.</a:t>
            </a:r>
            <a:endParaRPr lang="en-US" sz="1800" b="1" i="0" dirty="0">
              <a:solidFill>
                <a:srgbClr val="000000"/>
              </a:solidFill>
              <a:effectLst/>
              <a:latin typeface="Calibri" panose="020F0502020204030204" pitchFamily="34" charset="0"/>
            </a:endParaRPr>
          </a:p>
          <a:p>
            <a:pPr marL="342900" marR="0">
              <a:buNone/>
            </a:pPr>
            <a:r>
              <a:rPr lang="en-US" sz="1800" dirty="0">
                <a:solidFill>
                  <a:srgbClr val="000000"/>
                </a:solidFill>
                <a:effectLst/>
                <a:latin typeface="Calibri" panose="020F0502020204030204" pitchFamily="34" charset="0"/>
              </a:rPr>
              <a:t> </a:t>
            </a:r>
          </a:p>
          <a:p>
            <a:pPr rtl="0" fontAlgn="ctr">
              <a:buFont typeface="+mj-lt"/>
              <a:buAutoNum type="arabicPeriod" startAt="3"/>
            </a:pPr>
            <a:r>
              <a:rPr lang="en-US" sz="1800" b="1" i="0" dirty="0">
                <a:solidFill>
                  <a:srgbClr val="000000"/>
                </a:solidFill>
                <a:effectLst/>
                <a:latin typeface="Aptos" panose="020B0004020202020204" pitchFamily="34" charset="0"/>
              </a:rPr>
              <a:t>Scalability Issues:</a:t>
            </a:r>
            <a:r>
              <a:rPr lang="en-US" sz="1800" b="0" i="0" dirty="0">
                <a:solidFill>
                  <a:srgbClr val="000000"/>
                </a:solidFill>
                <a:effectLst/>
                <a:latin typeface="Aptos" panose="020B0004020202020204" pitchFamily="34" charset="0"/>
              </a:rPr>
              <a:t> As organizations grow and manage hundreds or thousands of users across multiple AWS accounts, relying on manual disabling/enabling through the UI becomes impractical. Organizations often have sophisticated user lifecycle management systems in place, which are integrated with identity platforms via APIs. The lack of an IDC API for user access control means either creating custom solutions or compromising on security and efficiency.</a:t>
            </a:r>
            <a:endParaRPr lang="en-US" sz="1800" b="1" i="0" dirty="0">
              <a:solidFill>
                <a:srgbClr val="000000"/>
              </a:solidFill>
              <a:effectLst/>
              <a:latin typeface="Calibri" panose="020F0502020204030204" pitchFamily="34" charset="0"/>
            </a:endParaRPr>
          </a:p>
          <a:p>
            <a:pPr marL="342900" marR="0">
              <a:buNone/>
            </a:pPr>
            <a:r>
              <a:rPr lang="en-US" sz="1800" dirty="0">
                <a:solidFill>
                  <a:srgbClr val="000000"/>
                </a:solidFill>
                <a:effectLst/>
                <a:latin typeface="Calibri" panose="020F0502020204030204" pitchFamily="34" charset="0"/>
              </a:rPr>
              <a:t> </a:t>
            </a:r>
          </a:p>
          <a:p>
            <a:pPr rtl="0" fontAlgn="ctr">
              <a:buFont typeface="+mj-lt"/>
              <a:buAutoNum type="arabicPeriod" startAt="4"/>
            </a:pPr>
            <a:r>
              <a:rPr lang="en-US" sz="1800" b="1" i="0" dirty="0">
                <a:solidFill>
                  <a:srgbClr val="000000"/>
                </a:solidFill>
                <a:effectLst/>
                <a:latin typeface="Aptos" panose="020B0004020202020204" pitchFamily="34" charset="0"/>
              </a:rPr>
              <a:t>Security Audit and Compliance:</a:t>
            </a:r>
            <a:r>
              <a:rPr lang="en-US" sz="1800" b="0" i="0" dirty="0">
                <a:solidFill>
                  <a:srgbClr val="000000"/>
                </a:solidFill>
                <a:effectLst/>
                <a:latin typeface="Aptos" panose="020B0004020202020204" pitchFamily="34" charset="0"/>
              </a:rPr>
              <a:t> From a compliance and audit perspective, the inability to programmatically disable a user means there’s no easy way to integrate this into logging systems or audit trails. This is particularly problematic in highly regulated industries where organizations must prove that user access was immediately revoked under certain conditions. Manual processes are harder to track and verify in real-time, making it difficult to maintain compliance.</a:t>
            </a:r>
            <a:endParaRPr lang="en-US" sz="1800" b="1" i="0" dirty="0">
              <a:solidFill>
                <a:srgbClr val="000000"/>
              </a:solidFill>
              <a:effectLst/>
              <a:latin typeface="Calibri" panose="020F0502020204030204" pitchFamily="34" charset="0"/>
            </a:endParaRPr>
          </a:p>
          <a:p>
            <a:pPr marL="342900" marR="0">
              <a:buNone/>
            </a:pPr>
            <a:r>
              <a:rPr lang="en-US" sz="1800" dirty="0">
                <a:solidFill>
                  <a:srgbClr val="000000"/>
                </a:solidFill>
                <a:effectLst/>
                <a:latin typeface="Calibri" panose="020F0502020204030204" pitchFamily="34" charset="0"/>
              </a:rPr>
              <a:t> </a:t>
            </a:r>
          </a:p>
          <a:p>
            <a:pPr rtl="0" fontAlgn="ctr">
              <a:buFont typeface="+mj-lt"/>
              <a:buAutoNum type="arabicPeriod" startAt="5"/>
            </a:pPr>
            <a:r>
              <a:rPr lang="en-US" sz="1800" b="1" i="0" dirty="0">
                <a:solidFill>
                  <a:srgbClr val="000000"/>
                </a:solidFill>
                <a:effectLst/>
                <a:latin typeface="Aptos" panose="020B0004020202020204" pitchFamily="34" charset="0"/>
              </a:rPr>
              <a:t>Increased Operational Overhead:</a:t>
            </a:r>
            <a:r>
              <a:rPr lang="en-US" sz="1800" b="0" i="0" dirty="0">
                <a:solidFill>
                  <a:srgbClr val="000000"/>
                </a:solidFill>
                <a:effectLst/>
                <a:latin typeface="Aptos" panose="020B0004020202020204" pitchFamily="34" charset="0"/>
              </a:rPr>
              <a:t> Not being able to integrate this functionality into existing security workflows means administrators must rely on manual processes, which increases operational overhead. This also introduces more room for human error, especially in high-pressure situations where quick action is needed to disable access.</a:t>
            </a:r>
            <a:endParaRPr lang="en-US" sz="1800" b="1" i="0" dirty="0">
              <a:solidFill>
                <a:srgbClr val="000000"/>
              </a:solidFill>
              <a:effectLst/>
              <a:latin typeface="Calibri" panose="020F0502020204030204" pitchFamily="34" charset="0"/>
            </a:endParaRP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I hope AWS considers adding this functionality to the API to ensure that organizations can seamlessly integrate user management into their security practices.</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 </a:t>
            </a:r>
          </a:p>
          <a:p>
            <a:pPr marL="0" marR="0">
              <a:buNone/>
            </a:pPr>
            <a:r>
              <a:rPr lang="en-US" sz="1800" dirty="0">
                <a:solidFill>
                  <a:srgbClr val="000000"/>
                </a:solidFill>
                <a:effectLst/>
                <a:latin typeface="Aptos" panose="020B0004020202020204" pitchFamily="34" charset="0"/>
              </a:rPr>
              <a:t> </a:t>
            </a:r>
          </a:p>
          <a:p>
            <a:pPr marL="0" marR="0">
              <a:buNone/>
            </a:pPr>
            <a:r>
              <a:rPr lang="en-US" sz="1800" b="1" dirty="0">
                <a:solidFill>
                  <a:srgbClr val="000000"/>
                </a:solidFill>
                <a:effectLst/>
                <a:latin typeface="Aptos" panose="020B0004020202020204" pitchFamily="34" charset="0"/>
              </a:rPr>
              <a:t>Request to Revise AWS Organization's Account Closure Service Quota Limit</a:t>
            </a:r>
            <a:endParaRPr lang="en-US" sz="1800" dirty="0">
              <a:solidFill>
                <a:srgbClr val="000000"/>
              </a:solidFill>
              <a:effectLst/>
              <a:latin typeface="Aptos" panose="020B0004020202020204" pitchFamily="34" charset="0"/>
            </a:endParaRPr>
          </a:p>
          <a:p>
            <a:pPr marL="0" marR="0">
              <a:buNone/>
            </a:pPr>
            <a:r>
              <a:rPr lang="en-US" sz="1800" dirty="0">
                <a:solidFill>
                  <a:srgbClr val="000000"/>
                </a:solidFill>
                <a:effectLst/>
                <a:latin typeface="Aptos" panose="020B0004020202020204" pitchFamily="34" charset="0"/>
              </a:rPr>
              <a:t>I want to make a request through you to request a change to the Service Quota L-89722F41</a:t>
            </a:r>
          </a:p>
          <a:p>
            <a:pPr marL="0" marR="0">
              <a:buNone/>
            </a:pPr>
            <a:r>
              <a:rPr lang="en-US" sz="1800" dirty="0">
                <a:effectLst/>
                <a:latin typeface="Aptos" panose="020B0004020202020204" pitchFamily="34" charset="0"/>
                <a:hlinkClick r:id="rId3"/>
              </a:rPr>
              <a:t>https://us-east-1.console.aws.amazon.com/servicequotas/home/services/organizations/quotas/L-89722F41</a:t>
            </a:r>
            <a:endParaRPr lang="en-US" sz="1800" dirty="0">
              <a:effectLst/>
              <a:latin typeface="Aptos" panose="020B0004020202020204" pitchFamily="34" charset="0"/>
            </a:endParaRPr>
          </a:p>
          <a:p>
            <a:pPr marL="0" marR="0">
              <a:buNone/>
            </a:pPr>
            <a:r>
              <a:rPr lang="en-US" sz="1800" dirty="0">
                <a:solidFill>
                  <a:srgbClr val="000000"/>
                </a:solidFill>
                <a:effectLst/>
                <a:latin typeface="Aptos" panose="020B0004020202020204" pitchFamily="34" charset="0"/>
              </a:rPr>
              <a:t>I'd like my email associated with the request in case anyone has questions</a:t>
            </a:r>
          </a:p>
          <a:p>
            <a:pPr marL="0" marR="0">
              <a:buNone/>
            </a:pPr>
            <a:r>
              <a:rPr lang="en-US" sz="1800" dirty="0">
                <a:solidFill>
                  <a:srgbClr val="000000"/>
                </a:solidFill>
                <a:effectLst/>
                <a:latin typeface="Aptos" panose="020B0004020202020204" pitchFamily="34" charset="0"/>
              </a:rPr>
              <a:t> </a:t>
            </a:r>
          </a:p>
          <a:p>
            <a:pPr marL="0" marR="0">
              <a:buNone/>
            </a:pPr>
            <a:r>
              <a:rPr lang="en-US" sz="1800" dirty="0">
                <a:solidFill>
                  <a:srgbClr val="000000"/>
                </a:solidFill>
                <a:effectLst/>
                <a:latin typeface="Aptos" panose="020B0004020202020204" pitchFamily="34" charset="0"/>
              </a:rPr>
              <a:t>The current Service Quota limits AWS Organizations to closing only up to 10% of member accounts within a 30-day period for organizations. This policy, while seemingly well-intentioned, presents significant operational challenges, especially in scenarios where accounts are created erroneously or by malicious actors. I attempted to outline the rationale and justification for revising the limitation and propose alternative solutions that balance security and operational flexibility.</a:t>
            </a:r>
          </a:p>
          <a:p>
            <a:pPr marL="0" marR="0">
              <a:buNone/>
            </a:pPr>
            <a:r>
              <a:rPr lang="en-US" sz="1800" dirty="0">
                <a:solidFill>
                  <a:srgbClr val="000000"/>
                </a:solidFill>
                <a:effectLst/>
                <a:latin typeface="Calibri" panose="020F0502020204030204" pitchFamily="34" charset="0"/>
              </a:rPr>
              <a:t> </a:t>
            </a:r>
          </a:p>
          <a:p>
            <a:pPr marL="0" marR="0">
              <a:buNone/>
            </a:pPr>
            <a:r>
              <a:rPr lang="en-US" sz="1800" b="1" dirty="0">
                <a:solidFill>
                  <a:srgbClr val="000000"/>
                </a:solidFill>
                <a:effectLst/>
                <a:latin typeface="Aptos" panose="020B0004020202020204" pitchFamily="34" charset="0"/>
              </a:rPr>
              <a:t>In my specific case, I work for Capgemini, an AWS Premier Partner.  We worked with AWS to host an AWS Gen AI hackathon.  We created an account for each of the approximately 170 teams.  With the current Service Quotas, it will take me an ENTIRE YEAR to shut down these accounts.  </a:t>
            </a:r>
            <a:endParaRPr lang="en-US" sz="1800" dirty="0">
              <a:solidFill>
                <a:srgbClr val="000000"/>
              </a:solidFill>
              <a:effectLst/>
              <a:latin typeface="Aptos" panose="020B0004020202020204" pitchFamily="34" charset="0"/>
            </a:endParaRPr>
          </a:p>
          <a:p>
            <a:pPr marL="0" marR="0">
              <a:buNone/>
            </a:pPr>
            <a:r>
              <a:rPr lang="en-US" sz="1800" dirty="0">
                <a:solidFill>
                  <a:srgbClr val="000000"/>
                </a:solidFill>
                <a:effectLst/>
                <a:latin typeface="Calibri" panose="020F0502020204030204" pitchFamily="34" charset="0"/>
              </a:rPr>
              <a:t> </a:t>
            </a:r>
          </a:p>
          <a:p>
            <a:pPr marL="0" marR="0">
              <a:buNone/>
            </a:pPr>
            <a:r>
              <a:rPr lang="en-US" sz="1800" b="1" dirty="0">
                <a:solidFill>
                  <a:srgbClr val="000000"/>
                </a:solidFill>
                <a:effectLst/>
                <a:latin typeface="Aptos" panose="020B0004020202020204" pitchFamily="34" charset="0"/>
              </a:rPr>
              <a:t>Current Policy and Its assumed Intent:</a:t>
            </a:r>
            <a:r>
              <a:rPr lang="en-US" sz="1800" dirty="0">
                <a:solidFill>
                  <a:srgbClr val="000000"/>
                </a:solidFill>
                <a:effectLst/>
                <a:latin typeface="Aptos" panose="020B0004020202020204" pitchFamily="34" charset="0"/>
              </a:rPr>
              <a:t> The 10% closure limit is presumably designed to prevent accidental or malicious closure of critical accounts, protecting organizations from disruptions caused by sudden loss of access to resources. This policy assumes that limiting account closures will reduce the risk of bad actors intentionally causing harm or prevent administrators from inadvertently shutting down critical services.</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This policy seems to provide encumbrances to effective management of large accounts or to manage issues from mistakes or compromised accounts without providing any real benefits or security to any Organization.</a:t>
            </a:r>
          </a:p>
          <a:p>
            <a:pPr marL="0" marR="0">
              <a:buNone/>
            </a:pPr>
            <a:r>
              <a:rPr lang="en-US" sz="1800" dirty="0">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Additionally, this policy may not adequately address real-world scenarios where:</a:t>
            </a:r>
          </a:p>
          <a:p>
            <a:pPr rtl="0" fontAlgn="ctr">
              <a:buFont typeface="+mj-lt"/>
              <a:buAutoNum type="arabicPeriod"/>
            </a:pPr>
            <a:r>
              <a:rPr lang="en-US" sz="1800" b="1" i="0" dirty="0">
                <a:solidFill>
                  <a:srgbClr val="000000"/>
                </a:solidFill>
                <a:effectLst/>
                <a:latin typeface="Aptos" panose="020B0004020202020204" pitchFamily="34" charset="0"/>
              </a:rPr>
              <a:t>Mass Account Creation by Malicious Actors:</a:t>
            </a:r>
            <a:r>
              <a:rPr lang="en-US" sz="1800" b="0" i="0" dirty="0">
                <a:solidFill>
                  <a:srgbClr val="000000"/>
                </a:solidFill>
                <a:effectLst/>
                <a:latin typeface="Aptos" panose="020B0004020202020204" pitchFamily="34" charset="0"/>
              </a:rPr>
              <a:t> Bad actors could infiltrate an AWS Organization and create numerous accounts, leaving the organization vulnerable to abuse and unnecessary resource consumption.</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Erroneous Account Creation:</a:t>
            </a:r>
            <a:r>
              <a:rPr lang="en-US" sz="1800" b="0" i="0" dirty="0">
                <a:solidFill>
                  <a:srgbClr val="000000"/>
                </a:solidFill>
                <a:effectLst/>
                <a:latin typeface="Aptos" panose="020B0004020202020204" pitchFamily="34" charset="0"/>
              </a:rPr>
              <a:t> Internal processes may lead to large numbers of accounts being opened unintentionally, either during testing phases, through automation errors, or via miscommunication across teams.</a:t>
            </a:r>
            <a:endParaRPr lang="en-US" sz="1800" b="1" i="0" dirty="0">
              <a:solidFill>
                <a:srgbClr val="000000"/>
              </a:solidFill>
              <a:effectLst/>
              <a:latin typeface="Calibri" panose="020F0502020204030204" pitchFamily="34" charset="0"/>
            </a:endParaRP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In both cases, the organization must retain flexibility to respond quickly by decommissioning problematic accounts to prevent further issues, such as unexpected costs or security breaches.</a:t>
            </a:r>
          </a:p>
          <a:p>
            <a:pPr marL="0" marR="0">
              <a:buNone/>
            </a:pPr>
            <a:r>
              <a:rPr lang="en-US" sz="1800" dirty="0">
                <a:solidFill>
                  <a:srgbClr val="000000"/>
                </a:solidFill>
                <a:effectLst/>
                <a:latin typeface="Aptos" panose="020B0004020202020204" pitchFamily="34" charset="0"/>
              </a:rPr>
              <a:t> </a:t>
            </a:r>
          </a:p>
          <a:p>
            <a:pPr marL="0" marR="0">
              <a:buNone/>
            </a:pPr>
            <a:r>
              <a:rPr lang="en-US" sz="1800" dirty="0">
                <a:solidFill>
                  <a:srgbClr val="000000"/>
                </a:solidFill>
                <a:effectLst/>
                <a:latin typeface="Aptos" panose="020B0004020202020204" pitchFamily="34" charset="0"/>
              </a:rPr>
              <a:t>The use case where this policy is actually desirable is unclear. Most AWS Organizations will admittedly not hit this limit but for the few that do, the limitation prevents effective management and remediation of undesirable accounts and account usage.</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Contradictory Functionality</a:t>
            </a:r>
            <a:endParaRPr lang="en-US" sz="1800" dirty="0">
              <a:effectLst/>
              <a:latin typeface="Calibri" panose="020F0502020204030204" pitchFamily="34" charset="0"/>
            </a:endParaRPr>
          </a:p>
          <a:p>
            <a:pPr marL="0" marR="0">
              <a:buNone/>
            </a:pPr>
            <a:r>
              <a:rPr lang="en-US" sz="1800" dirty="0">
                <a:effectLst/>
                <a:latin typeface="Calibri" panose="020F0502020204030204" pitchFamily="34" charset="0"/>
              </a:rPr>
              <a:t>It is possible to separate an account from an AWS Organization and then close the account without being constrained by this limit.  It is manually labor intensive to separate an account from the AWS Organization and then close the account.  Since this pathway is open to allow additional account closure, it is inconsistent to not allow this directly from within the AWS Organization.</a:t>
            </a:r>
          </a:p>
          <a:p>
            <a:pPr marL="0" marR="0">
              <a:buNone/>
            </a:pPr>
            <a:r>
              <a:rPr lang="en-US" sz="1800" dirty="0">
                <a:effectLst/>
                <a:latin typeface="Calibri" panose="020F0502020204030204" pitchFamily="34" charset="0"/>
              </a:rPr>
              <a:t> </a:t>
            </a:r>
          </a:p>
          <a:p>
            <a:pPr marL="0" marR="0">
              <a:buNone/>
            </a:pPr>
            <a:r>
              <a:rPr lang="en-US" sz="1800" b="1" dirty="0">
                <a:solidFill>
                  <a:srgbClr val="000000"/>
                </a:solidFill>
                <a:effectLst/>
                <a:latin typeface="Aptos" panose="020B0004020202020204" pitchFamily="34" charset="0"/>
              </a:rPr>
              <a:t>Complicating Factor:</a:t>
            </a:r>
            <a:r>
              <a:rPr lang="en-US" sz="1800" dirty="0">
                <a:solidFill>
                  <a:srgbClr val="000000"/>
                </a:solidFill>
                <a:effectLst/>
                <a:latin typeface="Aptos" panose="020B0004020202020204" pitchFamily="34" charset="0"/>
              </a:rPr>
              <a:t> Currently, AWS offers no functionality to either:</a:t>
            </a:r>
          </a:p>
          <a:p>
            <a:pPr rtl="0" fontAlgn="ctr">
              <a:buFont typeface="+mj-lt"/>
              <a:buAutoNum type="arabicPeriod"/>
            </a:pPr>
            <a:r>
              <a:rPr lang="en-US" sz="1800" b="1" i="0" dirty="0">
                <a:solidFill>
                  <a:srgbClr val="000000"/>
                </a:solidFill>
                <a:effectLst/>
                <a:latin typeface="Aptos" panose="020B0004020202020204" pitchFamily="34" charset="0"/>
              </a:rPr>
              <a:t>Suspend/terminate All Activity</a:t>
            </a:r>
            <a:r>
              <a:rPr lang="en-US" sz="1800" b="0" i="0" dirty="0">
                <a:solidFill>
                  <a:srgbClr val="000000"/>
                </a:solidFill>
                <a:effectLst/>
                <a:latin typeface="Aptos" panose="020B0004020202020204" pitchFamily="34" charset="0"/>
              </a:rPr>
              <a:t> </a:t>
            </a:r>
            <a:r>
              <a:rPr lang="en-US" sz="1800" b="1" i="0" dirty="0">
                <a:solidFill>
                  <a:srgbClr val="000000"/>
                </a:solidFill>
                <a:effectLst/>
                <a:latin typeface="Aptos" panose="020B0004020202020204" pitchFamily="34" charset="0"/>
              </a:rPr>
              <a:t>within an account </a:t>
            </a:r>
            <a:r>
              <a:rPr lang="en-US" sz="1800" b="0" i="0" dirty="0">
                <a:solidFill>
                  <a:srgbClr val="000000"/>
                </a:solidFill>
                <a:effectLst/>
                <a:latin typeface="Aptos" panose="020B0004020202020204" pitchFamily="34" charset="0"/>
              </a:rPr>
              <a:t>(effectively pausing all ongoing services without closing the account), or</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Perform a "Factory Reset"</a:t>
            </a:r>
            <a:r>
              <a:rPr lang="en-US" sz="1800" b="0" i="0" dirty="0">
                <a:solidFill>
                  <a:srgbClr val="000000"/>
                </a:solidFill>
                <a:effectLst/>
                <a:latin typeface="Aptos" panose="020B0004020202020204" pitchFamily="34" charset="0"/>
              </a:rPr>
              <a:t> </a:t>
            </a:r>
            <a:r>
              <a:rPr lang="en-US" sz="1800" b="1" i="0" dirty="0">
                <a:solidFill>
                  <a:srgbClr val="000000"/>
                </a:solidFill>
                <a:effectLst/>
                <a:latin typeface="Aptos" panose="020B0004020202020204" pitchFamily="34" charset="0"/>
              </a:rPr>
              <a:t>of an account</a:t>
            </a:r>
            <a:r>
              <a:rPr lang="en-US" sz="1800" b="0" i="0" dirty="0">
                <a:solidFill>
                  <a:srgbClr val="000000"/>
                </a:solidFill>
                <a:effectLst/>
                <a:latin typeface="Aptos" panose="020B0004020202020204" pitchFamily="34" charset="0"/>
              </a:rPr>
              <a:t>, which would terminate all running services and return the account to a baseline configuration without the need for complete closure.</a:t>
            </a:r>
            <a:endParaRPr lang="en-US" sz="1800" b="1" i="0" dirty="0">
              <a:solidFill>
                <a:srgbClr val="000000"/>
              </a:solidFill>
              <a:effectLst/>
              <a:latin typeface="Calibri" panose="020F0502020204030204" pitchFamily="34" charset="0"/>
            </a:endParaRPr>
          </a:p>
          <a:p>
            <a:pPr marL="0" marR="0">
              <a:buNone/>
            </a:pPr>
            <a:r>
              <a:rPr lang="en-US" sz="1800" dirty="0">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These features would provide organizations with the ability to neutralize the risk from accounts in a non-disruptive manner, ensuring that accounts can be secured while further decisions are made.</a:t>
            </a:r>
          </a:p>
          <a:p>
            <a:pPr marL="0" marR="0">
              <a:buNone/>
            </a:pPr>
            <a:r>
              <a:rPr lang="en-US" sz="1800" dirty="0">
                <a:effectLst/>
                <a:latin typeface="Calibri" panose="020F0502020204030204" pitchFamily="34" charset="0"/>
              </a:rPr>
              <a:t> </a:t>
            </a:r>
          </a:p>
          <a:p>
            <a:pPr marL="0" marR="0">
              <a:buNone/>
            </a:pPr>
            <a:r>
              <a:rPr lang="en-US" sz="1800" b="1" dirty="0">
                <a:solidFill>
                  <a:srgbClr val="000000"/>
                </a:solidFill>
                <a:effectLst/>
                <a:latin typeface="Aptos" panose="020B0004020202020204" pitchFamily="34" charset="0"/>
              </a:rPr>
              <a:t>Key Risks of the Current Limitation:</a:t>
            </a:r>
            <a:endParaRPr lang="en-US" sz="1800" dirty="0">
              <a:solidFill>
                <a:srgbClr val="000000"/>
              </a:solidFill>
              <a:effectLst/>
              <a:latin typeface="Aptos" panose="020B000402020202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Inability to Respond to Large-Scale Attacks or Incidents:</a:t>
            </a:r>
            <a:r>
              <a:rPr lang="en-US" sz="1800" b="0" i="0" dirty="0">
                <a:solidFill>
                  <a:srgbClr val="000000"/>
                </a:solidFill>
                <a:effectLst/>
                <a:latin typeface="Aptos" panose="020B0004020202020204" pitchFamily="34" charset="0"/>
              </a:rPr>
              <a:t> If a large number of malicious or erroneous accounts are created, an organization might be overwhelmed by resource consumption, security threats, or compliance issues. The 10% limitation would force the organization to address the issue over a prolonged period, which could leave them vulnerable to increased costs and further exploitation.</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Operational Burden and Costs:</a:t>
            </a:r>
            <a:r>
              <a:rPr lang="en-US" sz="1800" b="0" i="0" dirty="0">
                <a:solidFill>
                  <a:srgbClr val="000000"/>
                </a:solidFill>
                <a:effectLst/>
                <a:latin typeface="Aptos" panose="020B0004020202020204" pitchFamily="34" charset="0"/>
              </a:rPr>
              <a:t> Organizations with large infrastructures may be forced to continue paying for resources in accounts that are known to be unnecessary or harmful, creating an undue financial burden, especially in cases where multiple accounts need to be purged simultaneously.</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Reputational and Security Risks:</a:t>
            </a:r>
            <a:r>
              <a:rPr lang="en-US" sz="1800" b="0" i="0" dirty="0">
                <a:solidFill>
                  <a:srgbClr val="000000"/>
                </a:solidFill>
                <a:effectLst/>
                <a:latin typeface="Aptos" panose="020B0004020202020204" pitchFamily="34" charset="0"/>
              </a:rPr>
              <a:t> Allowing compromised accounts to remain active, even if temporarily, increases the potential for data breaches, service interruptions, and reputational damage. These risks far outweigh the benefit of the 10% shutdown limit.</a:t>
            </a:r>
            <a:endParaRPr lang="en-US" sz="1800" b="1" i="0" dirty="0">
              <a:solidFill>
                <a:srgbClr val="000000"/>
              </a:solidFill>
              <a:effectLst/>
              <a:latin typeface="Calibri" panose="020F0502020204030204" pitchFamily="34" charset="0"/>
            </a:endParaRPr>
          </a:p>
          <a:p>
            <a:pPr marL="0" marR="0">
              <a:buNone/>
            </a:pPr>
            <a:r>
              <a:rPr lang="en-US" sz="1800" dirty="0">
                <a:effectLst/>
                <a:latin typeface="Calibri" panose="020F0502020204030204" pitchFamily="34" charset="0"/>
              </a:rPr>
              <a:t> </a:t>
            </a:r>
          </a:p>
          <a:p>
            <a:pPr marL="0" marR="0">
              <a:buNone/>
            </a:pPr>
            <a:r>
              <a:rPr lang="en-US" sz="1800" b="1" dirty="0">
                <a:solidFill>
                  <a:srgbClr val="000000"/>
                </a:solidFill>
                <a:effectLst/>
                <a:latin typeface="Aptos" panose="020B0004020202020204" pitchFamily="34" charset="0"/>
              </a:rPr>
              <a:t>Proposed Compensating Controls:</a:t>
            </a:r>
            <a:r>
              <a:rPr lang="en-US" sz="1800" dirty="0">
                <a:solidFill>
                  <a:srgbClr val="000000"/>
                </a:solidFill>
                <a:effectLst/>
                <a:latin typeface="Aptos" panose="020B0004020202020204" pitchFamily="34" charset="0"/>
              </a:rPr>
              <a:t> Instead of enforcing a rigid account closure limit, AWS could implement the following compensating controls to achieve the desired protection without limiting operational flexibility:</a:t>
            </a:r>
          </a:p>
          <a:p>
            <a:pPr rtl="0" fontAlgn="ctr">
              <a:buFont typeface="+mj-lt"/>
              <a:buAutoNum type="arabicPeriod"/>
            </a:pPr>
            <a:r>
              <a:rPr lang="en-US" sz="1800" b="1" i="0" dirty="0">
                <a:solidFill>
                  <a:srgbClr val="000000"/>
                </a:solidFill>
                <a:effectLst/>
                <a:latin typeface="Aptos" panose="020B0004020202020204" pitchFamily="34" charset="0"/>
              </a:rPr>
              <a:t>Allow the 10% to be changed using the request process: </a:t>
            </a:r>
            <a:r>
              <a:rPr lang="en-US" sz="1800" b="0" i="0" dirty="0">
                <a:solidFill>
                  <a:srgbClr val="000000"/>
                </a:solidFill>
                <a:effectLst/>
                <a:latin typeface="Aptos" panose="020B0004020202020204" pitchFamily="34" charset="0"/>
              </a:rPr>
              <a:t>The best and easiest solution </a:t>
            </a:r>
            <a:r>
              <a:rPr lang="en-US" sz="1800" b="0" i="0" dirty="0" err="1">
                <a:solidFill>
                  <a:srgbClr val="000000"/>
                </a:solidFill>
                <a:effectLst/>
                <a:latin typeface="Aptos" panose="020B0004020202020204" pitchFamily="34" charset="0"/>
              </a:rPr>
              <a:t>woudl</a:t>
            </a:r>
            <a:r>
              <a:rPr lang="en-US" sz="1800" b="0" i="0" dirty="0">
                <a:solidFill>
                  <a:srgbClr val="000000"/>
                </a:solidFill>
                <a:effectLst/>
                <a:latin typeface="Aptos" panose="020B0004020202020204" pitchFamily="34" charset="0"/>
              </a:rPr>
              <a:t> be to allow this default limit to be changed using the same process to request other limit changes</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Suspend Account Activity: </a:t>
            </a:r>
            <a:r>
              <a:rPr lang="en-US" sz="1800" b="0" i="0" dirty="0">
                <a:solidFill>
                  <a:srgbClr val="000000"/>
                </a:solidFill>
                <a:effectLst/>
                <a:latin typeface="Aptos" panose="020B0004020202020204" pitchFamily="34" charset="0"/>
              </a:rPr>
              <a:t>Provide organizations with the ability to suspend all activity within an account. This would stop any running services, prevent further charges, and secure the account without requiring immediate closure. The account can be reactivated upon review or closed later if necessary.</a:t>
            </a:r>
            <a:endParaRPr lang="en-US" sz="1800" b="1" i="0" dirty="0">
              <a:solidFill>
                <a:srgbClr val="000000"/>
              </a:solidFill>
              <a:effectLst/>
              <a:latin typeface="Calibri" panose="020F0502020204030204" pitchFamily="34" charset="0"/>
            </a:endParaRPr>
          </a:p>
          <a:p>
            <a:pPr rtl="0" fontAlgn="ctr">
              <a:buFont typeface="+mj-lt"/>
              <a:buAutoNum type="arabicPeriod"/>
            </a:pPr>
            <a:r>
              <a:rPr lang="en-US" sz="1800" b="1" i="0" dirty="0">
                <a:solidFill>
                  <a:srgbClr val="000000"/>
                </a:solidFill>
                <a:effectLst/>
                <a:latin typeface="Aptos" panose="020B0004020202020204" pitchFamily="34" charset="0"/>
              </a:rPr>
              <a:t>Factory Reset Option:</a:t>
            </a:r>
            <a:r>
              <a:rPr lang="en-US" sz="1800" b="0" i="0" dirty="0">
                <a:solidFill>
                  <a:srgbClr val="000000"/>
                </a:solidFill>
                <a:effectLst/>
                <a:latin typeface="Aptos" panose="020B0004020202020204" pitchFamily="34" charset="0"/>
              </a:rPr>
              <a:t> Implement a "factory reset" function that allows organizations to shut down all running services and configurations in an account, effectively neutralizing any threats or ongoing issues. This could serve as an alternative to account closure, giving the organization time to investigate without needing to terminate the account immediately.</a:t>
            </a:r>
            <a:endParaRPr lang="en-US" sz="1800" b="1" i="0" dirty="0">
              <a:solidFill>
                <a:srgbClr val="000000"/>
              </a:solidFill>
              <a:effectLst/>
              <a:latin typeface="Calibri" panose="020F0502020204030204" pitchFamily="34" charset="0"/>
            </a:endParaRPr>
          </a:p>
          <a:p>
            <a:pPr marL="0" marR="0">
              <a:buNone/>
            </a:pPr>
            <a:r>
              <a:rPr lang="en-US" sz="1800" dirty="0">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While the current policy aims to prevent malicious closure of accounts, it inadvertently introduces significant risks and operational inefficiencies. The 10% limit is restrictive and may not reflect the realities of large-scale operations in today’s cloud environments. </a:t>
            </a:r>
          </a:p>
          <a:p>
            <a:pPr marL="0" marR="0">
              <a:buNone/>
            </a:pPr>
            <a:r>
              <a:rPr lang="en-US" sz="1800" dirty="0">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The preferred solution is to lift the limit or allow the limit to be altered using the current Service Quota change request process. if AWS offered alternatives like suspension of activity or factory resets, Organizations would be empowered to handle large-scale incidents and minimize security risks without relying on the blunt instrument of account closure.</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Aptos" panose="020B0004020202020204" pitchFamily="34" charset="0"/>
              </a:rPr>
              <a:t>I strongly urge AWS to reconsider the "no change" limit this policy or implement flexible options that allow for rapid response to threats while maintaining the security and integrity of the organization's resources.</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dirty="0">
                <a:solidFill>
                  <a:srgbClr val="000000"/>
                </a:solidFill>
                <a:effectLst/>
                <a:latin typeface="Calibri" panose="020F0502020204030204" pitchFamily="34" charset="0"/>
              </a:rPr>
              <a:t> </a:t>
            </a:r>
          </a:p>
          <a:p>
            <a:pPr marL="0" marR="0">
              <a:buNone/>
            </a:pPr>
            <a:r>
              <a:rPr lang="en-US" sz="1800" b="1" dirty="0">
                <a:effectLst/>
                <a:latin typeface="Calibri" panose="020F0502020204030204" pitchFamily="34" charset="0"/>
              </a:rPr>
              <a:t>Feature Request: "Factory Reset" Functionality for AWS Accounts</a:t>
            </a:r>
            <a:endParaRPr lang="en-US" sz="1800" dirty="0">
              <a:effectLst/>
              <a:latin typeface="Calibri" panose="020F0502020204030204" pitchFamily="34" charset="0"/>
            </a:endParaRPr>
          </a:p>
          <a:p>
            <a:pPr marL="0" marR="0">
              <a:buNone/>
            </a:pPr>
            <a:r>
              <a:rPr lang="en-US" sz="1800" b="1" dirty="0">
                <a:effectLst/>
                <a:latin typeface="Calibri" panose="020F0502020204030204" pitchFamily="34" charset="0"/>
              </a:rPr>
              <a:t>Overview:</a:t>
            </a:r>
            <a:r>
              <a:rPr lang="en-US" sz="1800" dirty="0">
                <a:effectLst/>
                <a:latin typeface="Calibri" panose="020F0502020204030204" pitchFamily="34" charset="0"/>
              </a:rPr>
              <a:t> I am requesting the introduction of a "Factory Reset" feature for AWS accounts that allows customers to restore an account to a baseline state by terminating all services and resetting configurations within the account. This feature would enable organizations to neutralize risk quickly and ensure that an account can be returned to a known, clean state without needing to close one account and open a new account, preserving important account history and reducing operational disruption.</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Key Points and Justification for the Request:</a:t>
            </a:r>
            <a:endParaRPr lang="en-US" sz="1800" dirty="0">
              <a:effectLst/>
              <a:latin typeface="Calibri" panose="020F0502020204030204" pitchFamily="34" charset="0"/>
            </a:endParaRPr>
          </a:p>
          <a:p>
            <a:pPr marL="342900" marR="0">
              <a:buNone/>
            </a:pPr>
            <a:r>
              <a:rPr lang="en-US" sz="1800" b="1" dirty="0">
                <a:effectLst/>
                <a:latin typeface="Calibri" panose="020F0502020204030204" pitchFamily="34" charset="0"/>
              </a:rPr>
              <a:t>Current Manual Workarounds Are Ineffective and inefficient:</a:t>
            </a:r>
            <a:r>
              <a:rPr lang="en-US" sz="1800" dirty="0">
                <a:effectLst/>
                <a:latin typeface="Calibri" panose="020F0502020204030204" pitchFamily="34" charset="0"/>
              </a:rPr>
              <a:t> Today, customers who wish to achieve the effect of a "Factory Reset" must manually navigate through the AWS Console, attempting to revert changes and terminate services individually. This process is:</a:t>
            </a:r>
          </a:p>
          <a:p>
            <a:pPr rtl="0" fontAlgn="ctr">
              <a:buFont typeface="Courier New" panose="02070309020205020404" pitchFamily="49" charset="0"/>
              <a:buChar char="o"/>
            </a:pPr>
            <a:r>
              <a:rPr lang="en-US" sz="1800" b="1" dirty="0">
                <a:effectLst/>
                <a:latin typeface="Calibri" panose="020F0502020204030204" pitchFamily="34" charset="0"/>
              </a:rPr>
              <a:t>Time-consuming and complex:</a:t>
            </a:r>
            <a:r>
              <a:rPr lang="en-US" sz="1800" dirty="0">
                <a:effectLst/>
                <a:latin typeface="Calibri" panose="020F0502020204030204" pitchFamily="34" charset="0"/>
              </a:rPr>
              <a:t> Many services are interdependent, and it can take hours or even days to identify all active services, terminate them, and verify that nothing is overlooked.</a:t>
            </a:r>
          </a:p>
          <a:p>
            <a:pPr rtl="0" fontAlgn="ctr">
              <a:buFont typeface="Courier New" panose="02070309020205020404" pitchFamily="49" charset="0"/>
              <a:buChar char="o"/>
            </a:pPr>
            <a:r>
              <a:rPr lang="en-US" sz="1800" b="1" dirty="0">
                <a:effectLst/>
                <a:latin typeface="Calibri" panose="020F0502020204030204" pitchFamily="34" charset="0"/>
              </a:rPr>
              <a:t>Difficult to measure effectiveness of changes:</a:t>
            </a:r>
            <a:r>
              <a:rPr lang="en-US" sz="1800" dirty="0">
                <a:effectLst/>
                <a:latin typeface="Calibri" panose="020F0502020204030204" pitchFamily="34" charset="0"/>
              </a:rPr>
              <a:t> The authoritative measure of if a service has been completely shut down is whether charges are still accruing in the Billing and Cost Management Console. This is the difficult to determine as there is a delay in data coming into and displayed in the Billing and Cost Management console and the resolution of the data is "Daily".  There is an "Hourly" resolution option but using this limits the amount of available billing data to only 14 days which is not an acceptable option for an Enterprise.</a:t>
            </a:r>
          </a:p>
          <a:p>
            <a:pPr rtl="0" fontAlgn="ctr">
              <a:buFont typeface="Courier New" panose="02070309020205020404" pitchFamily="49" charset="0"/>
              <a:buChar char="o"/>
            </a:pPr>
            <a:r>
              <a:rPr lang="en-US" sz="1800" b="1" dirty="0">
                <a:effectLst/>
                <a:latin typeface="Calibri" panose="020F0502020204030204" pitchFamily="34" charset="0"/>
              </a:rPr>
              <a:t>Error-prone:</a:t>
            </a:r>
            <a:r>
              <a:rPr lang="en-US" sz="1800" dirty="0">
                <a:effectLst/>
                <a:latin typeface="Calibri" panose="020F0502020204030204" pitchFamily="34" charset="0"/>
              </a:rPr>
              <a:t> Given the complexity of modern cloud environments, it is easy to miss services or configurations that should be reset. People often do not know or remember the original baseline state of the account after extensive modifications have been made, further complicating attempts to manually revert changes.</a:t>
            </a:r>
          </a:p>
          <a:p>
            <a:pPr rtl="0" fontAlgn="ctr">
              <a:buFont typeface="Courier New" panose="02070309020205020404" pitchFamily="49" charset="0"/>
              <a:buChar char="o"/>
            </a:pPr>
            <a:r>
              <a:rPr lang="en-US" sz="1800" b="1" dirty="0">
                <a:effectLst/>
                <a:latin typeface="Calibri" panose="020F0502020204030204" pitchFamily="34" charset="0"/>
              </a:rPr>
              <a:t>Not always effective:</a:t>
            </a:r>
            <a:r>
              <a:rPr lang="en-US" sz="1800" dirty="0">
                <a:effectLst/>
                <a:latin typeface="Calibri" panose="020F0502020204030204" pitchFamily="34" charset="0"/>
              </a:rPr>
              <a:t> Without knowing the original state, organizations may struggle to restore the account to a true baseline, leaving residual configurations that could cause problems later on.</a:t>
            </a:r>
          </a:p>
          <a:p>
            <a:pPr marL="342900" marR="0">
              <a:buNone/>
            </a:pPr>
            <a:r>
              <a:rPr lang="en-US" sz="1800" dirty="0">
                <a:effectLst/>
                <a:latin typeface="Calibri" panose="020F0502020204030204" pitchFamily="34" charset="0"/>
              </a:rPr>
              <a:t> </a:t>
            </a:r>
          </a:p>
          <a:p>
            <a:pPr marL="342900" marR="0">
              <a:buNone/>
            </a:pPr>
            <a:r>
              <a:rPr lang="en-US" sz="1800" b="1" dirty="0">
                <a:effectLst/>
                <a:latin typeface="Calibri" panose="020F0502020204030204" pitchFamily="34" charset="0"/>
              </a:rPr>
              <a:t>Use of Open Source Tools Like AWS Nuke:</a:t>
            </a:r>
            <a:r>
              <a:rPr lang="en-US" sz="1800" dirty="0">
                <a:effectLst/>
                <a:latin typeface="Calibri" panose="020F0502020204030204" pitchFamily="34" charset="0"/>
              </a:rPr>
              <a:t> Many customers, and even AWS employees, turn to open-source tools like </a:t>
            </a:r>
            <a:r>
              <a:rPr lang="en-US" sz="1800" dirty="0">
                <a:effectLst/>
                <a:latin typeface="Calibri" panose="020F0502020204030204" pitchFamily="34" charset="0"/>
                <a:hlinkClick r:id="rId4"/>
              </a:rPr>
              <a:t>AWS Nuke</a:t>
            </a:r>
            <a:r>
              <a:rPr lang="en-US" sz="1800" dirty="0">
                <a:effectLst/>
                <a:latin typeface="Calibri" panose="020F0502020204030204" pitchFamily="34" charset="0"/>
              </a:rPr>
              <a:t>, which is designed to clean up accounts by deleting all resources. While this tool has gained popularity, it has several limitations:</a:t>
            </a:r>
          </a:p>
          <a:p>
            <a:pPr rtl="0" fontAlgn="ctr">
              <a:buFont typeface="Courier New" panose="02070309020205020404" pitchFamily="49" charset="0"/>
              <a:buChar char="o"/>
            </a:pPr>
            <a:r>
              <a:rPr lang="en-US" sz="1800" b="1" dirty="0">
                <a:effectLst/>
                <a:latin typeface="Calibri" panose="020F0502020204030204" pitchFamily="34" charset="0"/>
              </a:rPr>
              <a:t>Incomplete coverage:</a:t>
            </a:r>
            <a:r>
              <a:rPr lang="en-US" sz="1800" dirty="0">
                <a:effectLst/>
                <a:latin typeface="Calibri" panose="020F0502020204030204" pitchFamily="34" charset="0"/>
              </a:rPr>
              <a:t> Open-source tools may not cover all AWS services comprehensively or keep pace with new services and configurations that AWS continuously introduces.</a:t>
            </a:r>
          </a:p>
          <a:p>
            <a:pPr rtl="0" fontAlgn="ctr">
              <a:buFont typeface="Courier New" panose="02070309020205020404" pitchFamily="49" charset="0"/>
              <a:buChar char="o"/>
            </a:pPr>
            <a:r>
              <a:rPr lang="en-US" sz="1800" b="1" dirty="0">
                <a:effectLst/>
                <a:latin typeface="Calibri" panose="020F0502020204030204" pitchFamily="34" charset="0"/>
              </a:rPr>
              <a:t>Potential risks:</a:t>
            </a:r>
            <a:r>
              <a:rPr lang="en-US" sz="1800" dirty="0">
                <a:effectLst/>
                <a:latin typeface="Calibri" panose="020F0502020204030204" pitchFamily="34" charset="0"/>
              </a:rPr>
              <a:t> Relying on community-driven tools for critical functions can introduce risk, as these tools may not have the rigorous testing, security, and support that customers expect from AWS services. A native AWS solution would provide a more reliable, consistent, and well-supported approach to account resets, improving both quality and security.</a:t>
            </a:r>
          </a:p>
          <a:p>
            <a:pPr marL="342900" marR="0">
              <a:buNone/>
            </a:pPr>
            <a:r>
              <a:rPr lang="en-US" sz="1800" dirty="0">
                <a:effectLst/>
                <a:latin typeface="Calibri" panose="020F0502020204030204" pitchFamily="34" charset="0"/>
              </a:rPr>
              <a:t> </a:t>
            </a:r>
          </a:p>
          <a:p>
            <a:pPr marL="342900" marR="0">
              <a:buNone/>
            </a:pPr>
            <a:r>
              <a:rPr lang="en-US" sz="1800" b="1" dirty="0">
                <a:effectLst/>
                <a:latin typeface="Calibri" panose="020F0502020204030204" pitchFamily="34" charset="0"/>
              </a:rPr>
              <a:t>The Inefficiency of Account Closure and Creation:</a:t>
            </a:r>
            <a:r>
              <a:rPr lang="en-US" sz="1800" dirty="0">
                <a:effectLst/>
                <a:latin typeface="Calibri" panose="020F0502020204030204" pitchFamily="34" charset="0"/>
              </a:rPr>
              <a:t> Many customers resort to closing accounts entirely and opening new ones to regain a clean state. This approach has several drawbacks:</a:t>
            </a:r>
          </a:p>
          <a:p>
            <a:pPr rtl="0" fontAlgn="ctr">
              <a:buFont typeface="Courier New" panose="02070309020205020404" pitchFamily="49" charset="0"/>
              <a:buChar char="o"/>
            </a:pPr>
            <a:r>
              <a:rPr lang="en-US" sz="1800" b="1" dirty="0">
                <a:effectLst/>
                <a:latin typeface="Calibri" panose="020F0502020204030204" pitchFamily="34" charset="0"/>
              </a:rPr>
              <a:t>Loss of account history:</a:t>
            </a:r>
            <a:r>
              <a:rPr lang="en-US" sz="1800" dirty="0">
                <a:effectLst/>
                <a:latin typeface="Calibri" panose="020F0502020204030204" pitchFamily="34" charset="0"/>
              </a:rPr>
              <a:t> When an account is closed and a new one is opened, customers lose valuable history, including billing information, CloudTrail logs, and service activity data. This data can be crucial for auditing, compliance, and troubleshooting.</a:t>
            </a:r>
          </a:p>
          <a:p>
            <a:pPr rtl="0" fontAlgn="ctr">
              <a:buFont typeface="Courier New" panose="02070309020205020404" pitchFamily="49" charset="0"/>
              <a:buChar char="o"/>
            </a:pPr>
            <a:r>
              <a:rPr lang="en-US" sz="1800" b="1" dirty="0">
                <a:effectLst/>
                <a:latin typeface="Calibri" panose="020F0502020204030204" pitchFamily="34" charset="0"/>
              </a:rPr>
              <a:t>Operational disruption:</a:t>
            </a:r>
            <a:r>
              <a:rPr lang="en-US" sz="1800" dirty="0">
                <a:effectLst/>
                <a:latin typeface="Calibri" panose="020F0502020204030204" pitchFamily="34" charset="0"/>
              </a:rPr>
              <a:t> Closing and reopening accounts often disrupts business processes, requiring time and effort to reconfigure organizational structures, permissions, and access controls. A "Factory Reset" feature would allow organizations to retain their account history while resetting the account’s operational state, avoiding these disruptions.</a:t>
            </a:r>
          </a:p>
          <a:p>
            <a:pPr marL="34290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The Need for Safeguards</a:t>
            </a:r>
            <a:endParaRPr lang="en-US" sz="1800" dirty="0">
              <a:effectLst/>
              <a:latin typeface="Calibri" panose="020F0502020204030204" pitchFamily="34" charset="0"/>
            </a:endParaRPr>
          </a:p>
          <a:p>
            <a:pPr marL="0" marR="0">
              <a:buNone/>
            </a:pPr>
            <a:r>
              <a:rPr lang="en-US" sz="1800" dirty="0">
                <a:effectLst/>
                <a:latin typeface="Calibri" panose="020F0502020204030204" pitchFamily="34" charset="0"/>
              </a:rPr>
              <a:t>A "Factory Reset" option is not one to be taken lightly, as it has the potential to disrupt ongoing services if used inappropriately. Therefore, I suggest possible safeguards:</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Confirmation and warnings:</a:t>
            </a:r>
            <a:r>
              <a:rPr lang="en-US" sz="1800" dirty="0">
                <a:effectLst/>
                <a:latin typeface="Calibri" panose="020F0502020204030204" pitchFamily="34" charset="0"/>
              </a:rPr>
              <a:t> When initiating a Factory Reset, administrators should receive clear warnings about the impact, with detailed information on which services will be terminated and what data will be lost.</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Multi-step approval process:</a:t>
            </a:r>
            <a:r>
              <a:rPr lang="en-US" sz="1800" dirty="0">
                <a:effectLst/>
                <a:latin typeface="Calibri" panose="020F0502020204030204" pitchFamily="34" charset="0"/>
              </a:rPr>
              <a:t> For additional security, the reset process could require approval from multiple account administrators, especially in larger organizations, to ensure it is a deliberate non-malicious action.</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Waiting period before taking effect:</a:t>
            </a:r>
            <a:r>
              <a:rPr lang="en-US" sz="1800" dirty="0">
                <a:effectLst/>
                <a:latin typeface="Calibri" panose="020F0502020204030204" pitchFamily="34" charset="0"/>
              </a:rPr>
              <a:t> A waiting period, like that implemented in the Key Management Service when deleting a Key would be a prudent requirement. </a:t>
            </a:r>
          </a:p>
          <a:p>
            <a:pPr marL="0" marR="0">
              <a:buNone/>
            </a:pPr>
            <a:r>
              <a:rPr lang="en-US" sz="1800" dirty="0">
                <a:effectLst/>
                <a:latin typeface="Calibri" panose="020F0502020204030204" pitchFamily="34" charset="0"/>
              </a:rPr>
              <a:t> </a:t>
            </a:r>
          </a:p>
          <a:p>
            <a:pPr marL="0" marR="0">
              <a:buNone/>
            </a:pPr>
            <a:r>
              <a:rPr lang="en-US" sz="1800" b="1" dirty="0">
                <a:effectLst/>
                <a:latin typeface="Calibri" panose="020F0502020204030204" pitchFamily="34" charset="0"/>
              </a:rPr>
              <a:t>Logging and auditing:</a:t>
            </a:r>
            <a:r>
              <a:rPr lang="en-US" sz="1800" dirty="0">
                <a:effectLst/>
                <a:latin typeface="Calibri" panose="020F0502020204030204" pitchFamily="34" charset="0"/>
              </a:rPr>
              <a:t> All reset actions should be logged in AWS CloudTrail, allowing organizations to audit when and why the reset occurred, and by whom.</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A "Factory Reset" feature would provide customers with a powerful tool to revert AWS accounts to a baseline state quickly and efficiently. It would address the challenges and inefficiencies of current manual workarounds, reduce reliance on third-party tools, and prevent the loss of valuable account history caused by account closure and re-creation. With appropriate safeguards in place, this feature would offer customers greater control and security while improving operational flexibility.</a:t>
            </a:r>
          </a:p>
          <a:p>
            <a:pPr marL="0" marR="0">
              <a:buNone/>
            </a:pPr>
            <a:r>
              <a:rPr lang="en-US" sz="1800" dirty="0">
                <a:effectLst/>
                <a:latin typeface="Calibri" panose="020F0502020204030204" pitchFamily="34" charset="0"/>
              </a:rPr>
              <a:t> </a:t>
            </a:r>
          </a:p>
          <a:p>
            <a:pPr marL="0" marR="0"/>
            <a:r>
              <a:rPr lang="en-US" sz="1800" dirty="0">
                <a:effectLst/>
                <a:latin typeface="Calibri" panose="020F0502020204030204" pitchFamily="34" charset="0"/>
              </a:rPr>
              <a:t>I strongly suggest AWS consider implementing this feature to better meet customer needs in managing and maintaining their accounts.</a:t>
            </a:r>
          </a:p>
          <a:p>
            <a:endParaRPr lang="en-US" dirty="0"/>
          </a:p>
        </p:txBody>
      </p:sp>
      <p:sp>
        <p:nvSpPr>
          <p:cNvPr id="4" name="Slide Number Placeholder 3"/>
          <p:cNvSpPr>
            <a:spLocks noGrp="1"/>
          </p:cNvSpPr>
          <p:nvPr>
            <p:ph type="sldNum" sz="quarter" idx="5"/>
          </p:nvPr>
        </p:nvSpPr>
        <p:spPr/>
        <p:txBody>
          <a:bodyPr/>
          <a:lstStyle/>
          <a:p>
            <a:fld id="{BAD2B9E6-CFD0-4C5D-B4A0-3C33F882623F}" type="slidenum">
              <a:rPr lang="en-US" smtClean="0"/>
              <a:t>9</a:t>
            </a:fld>
            <a:endParaRPr lang="en-US"/>
          </a:p>
        </p:txBody>
      </p:sp>
    </p:spTree>
    <p:extLst>
      <p:ext uri="{BB962C8B-B14F-4D97-AF65-F5344CB8AC3E}">
        <p14:creationId xmlns:p14="http://schemas.microsoft.com/office/powerpoint/2010/main" val="262990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1FEA-5326-BD8F-48BA-5C66EDBD94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44C814-FA50-51A3-5786-27429883B8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555DEC-9F6C-8933-7B81-E19DAB12256A}"/>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62BC60CB-7925-2B34-8418-F9FADFE98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9230F-0A22-6DE2-1E2D-73F81DDB1D1C}"/>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428181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ED7F-1B25-C65A-4475-FCD7BF4021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20DD27-5D37-2528-C972-7755B9B38F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DC49A-5C7F-106F-1149-FBF3E8DAF14F}"/>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43F5CACE-35AF-7B8E-A44D-2366C5C52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0BC8F2-3F34-23CF-1179-6D1BD465AA97}"/>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1635413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7D71A-B743-D470-78FB-1DADBC9C62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135703-B6A3-28A5-424B-F9074B2E8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C0EC9-3060-849C-199E-2B2DF0268226}"/>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B7871BA6-25BC-5209-3A40-AA62D422B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E1B05-A543-5D36-DE03-3D82FC48508D}"/>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98825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0DA4-A702-A0EC-DF4A-F7EA2AB27A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7F6C5-A852-7411-864B-B4A006BB91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1BFE70-D40B-9698-6CF9-30A084ADB8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4E5C40-0215-A472-CE66-01DA429A8C75}"/>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6" name="Footer Placeholder 5">
            <a:extLst>
              <a:ext uri="{FF2B5EF4-FFF2-40B4-BE49-F238E27FC236}">
                <a16:creationId xmlns:a16="http://schemas.microsoft.com/office/drawing/2014/main" id="{55CF45FD-9424-11BA-9053-392F4B4058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E17493-073E-E367-20FE-71BED8DF5C89}"/>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4038047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9012-B469-8B1B-00F3-3D9D26DC45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8179B4-AA74-047A-BFE4-BC3FE33375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D746B6-8071-22D3-572B-57256207BA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AB93F9-CAF5-73AF-52A8-A044059AC0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14B8DF-863D-C86A-523B-739A3192EA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30921E-336B-8C31-63AA-127FD0E5F869}"/>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8" name="Footer Placeholder 7">
            <a:extLst>
              <a:ext uri="{FF2B5EF4-FFF2-40B4-BE49-F238E27FC236}">
                <a16:creationId xmlns:a16="http://schemas.microsoft.com/office/drawing/2014/main" id="{4A38CB02-BA65-5A41-0A32-2B9B99EC96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923172-282D-2CDF-F4D5-24DC2F11432B}"/>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989415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5B040-444A-92E1-82BE-A7C1378DF5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B339D0-D200-1A2E-EDCD-84FD41628204}"/>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4" name="Footer Placeholder 3">
            <a:extLst>
              <a:ext uri="{FF2B5EF4-FFF2-40B4-BE49-F238E27FC236}">
                <a16:creationId xmlns:a16="http://schemas.microsoft.com/office/drawing/2014/main" id="{36659B46-E2E2-C001-E8C0-D100E856A4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59F37C-198D-407D-6825-8D9713861F86}"/>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863335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FB88C1-9FBE-6A12-8C06-1412D101F5FA}"/>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3" name="Footer Placeholder 2">
            <a:extLst>
              <a:ext uri="{FF2B5EF4-FFF2-40B4-BE49-F238E27FC236}">
                <a16:creationId xmlns:a16="http://schemas.microsoft.com/office/drawing/2014/main" id="{8DB863CF-D606-2443-D815-B38173FEA3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975795-F026-709E-B693-BA902669DF0F}"/>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246381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FD5B-D46F-EBA7-ECB5-DC218A26CE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0B163B-A818-AB44-161B-76844662BB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B085BB-2250-A771-261C-6097E82AB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E1646-7F4B-CA10-A52A-2F14948C8538}"/>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6" name="Footer Placeholder 5">
            <a:extLst>
              <a:ext uri="{FF2B5EF4-FFF2-40B4-BE49-F238E27FC236}">
                <a16:creationId xmlns:a16="http://schemas.microsoft.com/office/drawing/2014/main" id="{784BD566-E488-1FEA-A6B8-6D8B86812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E7D000-035A-32A9-BF96-40A0807C649A}"/>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3066525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400C-3375-BD50-DE10-31C2C911B6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E3A591-B315-79F7-C5F8-85E69E3D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A2EFB9-EE6D-3CA8-4123-F0A2E4745F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6A9C2-094D-1F3A-A379-1574C329F6EF}"/>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6" name="Footer Placeholder 5">
            <a:extLst>
              <a:ext uri="{FF2B5EF4-FFF2-40B4-BE49-F238E27FC236}">
                <a16:creationId xmlns:a16="http://schemas.microsoft.com/office/drawing/2014/main" id="{C020EBDA-2361-B870-577B-F8AB5C020F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E0E63-5EAB-DF43-DF74-2CCD1B019324}"/>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2624185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2B9E-C3D8-9F32-5219-8CD637C58B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A73383-132E-11FC-D43E-477B9539A8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FD38C3-6F19-126C-BC75-C269DBF3A6BE}"/>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68E16EA9-C04E-AF49-3357-4BBF28DE9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63834-55D9-E064-09A4-2D576F1FF403}"/>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534307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1E99D5-5117-8BBB-85A0-467124126A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F1F892-BB45-02D5-918B-E27448F1B7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C2009-880C-6368-FEBD-946DEBFC2C31}"/>
              </a:ext>
            </a:extLst>
          </p:cNvPr>
          <p:cNvSpPr>
            <a:spLocks noGrp="1"/>
          </p:cNvSpPr>
          <p:nvPr>
            <p:ph type="dt" sz="half" idx="10"/>
          </p:nvPr>
        </p:nvSpPr>
        <p:spPr/>
        <p:txBody>
          <a:body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A15EE956-FE9A-EACF-75C7-C1975DE9D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DFDCF-0D92-6BF3-EB9F-5038445DBAD5}"/>
              </a:ext>
            </a:extLst>
          </p:cNvPr>
          <p:cNvSpPr>
            <a:spLocks noGrp="1"/>
          </p:cNvSpPr>
          <p:nvPr>
            <p:ph type="sldNum" sz="quarter" idx="12"/>
          </p:nvPr>
        </p:nvSpPr>
        <p:spPr/>
        <p:txBody>
          <a:bodyPr/>
          <a:lstStyle/>
          <a:p>
            <a:fld id="{D08F2962-99B3-4A93-9C49-1F1A0B4FA454}" type="slidenum">
              <a:rPr lang="en-US" smtClean="0"/>
              <a:t>‹#›</a:t>
            </a:fld>
            <a:endParaRPr lang="en-US"/>
          </a:p>
        </p:txBody>
      </p:sp>
    </p:spTree>
    <p:extLst>
      <p:ext uri="{BB962C8B-B14F-4D97-AF65-F5344CB8AC3E}">
        <p14:creationId xmlns:p14="http://schemas.microsoft.com/office/powerpoint/2010/main" val="3731619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D30AD-47D1-F573-43EE-B4CE95DD3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F2337C-260D-EB54-A5E9-D2EA1EBDCB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5B2245-819B-981D-A29F-3F4F9316A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161166-F8A9-4E20-9B6F-3878140E7CB0}" type="datetimeFigureOut">
              <a:rPr lang="en-US" smtClean="0"/>
              <a:t>5/5/2025</a:t>
            </a:fld>
            <a:endParaRPr lang="en-US"/>
          </a:p>
        </p:txBody>
      </p:sp>
      <p:sp>
        <p:nvSpPr>
          <p:cNvPr id="5" name="Footer Placeholder 4">
            <a:extLst>
              <a:ext uri="{FF2B5EF4-FFF2-40B4-BE49-F238E27FC236}">
                <a16:creationId xmlns:a16="http://schemas.microsoft.com/office/drawing/2014/main" id="{A9DC34D1-369B-47A9-521C-8B65AF4817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AA5482-40B6-0CDE-62C5-910CCEA682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8F2962-99B3-4A93-9C49-1F1A0B4FA454}" type="slidenum">
              <a:rPr lang="en-US" smtClean="0"/>
              <a:t>‹#›</a:t>
            </a:fld>
            <a:endParaRPr lang="en-US"/>
          </a:p>
        </p:txBody>
      </p:sp>
    </p:spTree>
    <p:extLst>
      <p:ext uri="{BB962C8B-B14F-4D97-AF65-F5344CB8AC3E}">
        <p14:creationId xmlns:p14="http://schemas.microsoft.com/office/powerpoint/2010/main" val="3695957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mailto:mhosur@amazon.com" TargetMode="External"/><Relationship Id="rId2" Type="http://schemas.openxmlformats.org/officeDocument/2006/relationships/hyperlink" Target="https://www.onova.io/capgemini-x-aw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mailto:aws_hackathon@mgeiser.net" TargetMode="External"/><Relationship Id="rId2" Type="http://schemas.openxmlformats.org/officeDocument/2006/relationships/hyperlink" Target="mailto:Mgeiser@mgeiser.net" TargetMode="External"/><Relationship Id="rId1" Type="http://schemas.openxmlformats.org/officeDocument/2006/relationships/slideLayout" Target="../slideLayouts/slideLayout7.xml"/><Relationship Id="rId4" Type="http://schemas.openxmlformats.org/officeDocument/2006/relationships/hyperlink" Target="mailto:mhosur@amazon.co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AF60-9A53-155B-8992-834779957C0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0BB1299-9AFC-F01C-6F7A-FD0A39367D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521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E04D8C-69FC-EAA9-8AF2-7ADED65EDE98}"/>
              </a:ext>
            </a:extLst>
          </p:cNvPr>
          <p:cNvSpPr txBox="1"/>
          <p:nvPr/>
        </p:nvSpPr>
        <p:spPr>
          <a:xfrm>
            <a:off x="339047" y="236829"/>
            <a:ext cx="10767317" cy="6186309"/>
          </a:xfrm>
          <a:prstGeom prst="rect">
            <a:avLst/>
          </a:prstGeom>
          <a:noFill/>
        </p:spPr>
        <p:txBody>
          <a:bodyPr wrap="square">
            <a:spAutoFit/>
          </a:bodyPr>
          <a:lstStyle/>
          <a:p>
            <a:r>
              <a:rPr lang="en-US" b="1" dirty="0"/>
              <a:t>AWS GEN AI Hackathon: Aug - Oct 2024</a:t>
            </a:r>
          </a:p>
          <a:p>
            <a:r>
              <a:rPr lang="en-US" dirty="0"/>
              <a:t> AWS Gen AI Hackathon: member of leadership team that created and ran the Hackathon. Managed with 1 report all account and user aspects of hackathon with 800 participants, 180 accounts, and a $50k budget. The GEN AI Hackathon ran from Aug 1 through Oct 4, 2024.</a:t>
            </a:r>
          </a:p>
          <a:p>
            <a:endParaRPr lang="en-US" dirty="0"/>
          </a:p>
          <a:p>
            <a:r>
              <a:rPr lang="en-US" dirty="0"/>
              <a:t>I presented the overall winner submission as a featured demo in the Capgemini booth at re:Invent 2024</a:t>
            </a:r>
          </a:p>
          <a:p>
            <a:endParaRPr lang="en-US" dirty="0"/>
          </a:p>
          <a:p>
            <a:r>
              <a:rPr lang="en-US" dirty="0"/>
              <a:t>Details of the Hackathon</a:t>
            </a:r>
          </a:p>
          <a:p>
            <a:pPr marL="285750" indent="-285750">
              <a:buFont typeface="Arial" panose="020B0604020202020204" pitchFamily="34" charset="0"/>
              <a:buChar char="•"/>
            </a:pPr>
            <a:r>
              <a:rPr lang="en-US" dirty="0"/>
              <a:t>Event had almost 1700 signups, 700 active participants self organized into 180 teams </a:t>
            </a:r>
          </a:p>
          <a:p>
            <a:pPr marL="285750" indent="-285750">
              <a:buFont typeface="Arial" panose="020B0604020202020204" pitchFamily="34" charset="0"/>
              <a:buChar char="•"/>
            </a:pPr>
            <a:r>
              <a:rPr lang="en-US" dirty="0"/>
              <a:t>I defined and got approved the tech Budget ($40k for compute, $6500 for labor, $100 </a:t>
            </a:r>
            <a:r>
              <a:rPr lang="en-US" dirty="0" err="1"/>
              <a:t>misc</a:t>
            </a:r>
            <a:r>
              <a:rPr lang="en-US" dirty="0"/>
              <a:t> expenses)</a:t>
            </a:r>
          </a:p>
          <a:p>
            <a:pPr marL="285750" indent="-285750">
              <a:buFont typeface="Arial" panose="020B0604020202020204" pitchFamily="34" charset="0"/>
              <a:buChar char="•"/>
            </a:pPr>
            <a:r>
              <a:rPr lang="en-US" dirty="0"/>
              <a:t>I defined process to provision accounts and participants</a:t>
            </a:r>
          </a:p>
          <a:p>
            <a:pPr marL="285750" indent="-285750">
              <a:buFont typeface="Arial" panose="020B0604020202020204" pitchFamily="34" charset="0"/>
              <a:buChar char="•"/>
            </a:pPr>
            <a:r>
              <a:rPr lang="en-US" dirty="0"/>
              <a:t>I defined infrastructure to be able to effective secure and control usage</a:t>
            </a:r>
          </a:p>
          <a:p>
            <a:pPr marL="285750" indent="-285750">
              <a:buFont typeface="Arial" panose="020B0604020202020204" pitchFamily="34" charset="0"/>
              <a:buChar char="•"/>
            </a:pPr>
            <a:r>
              <a:rPr lang="en-US" dirty="0"/>
              <a:t>I defined the Organization and account structure to effectively use AWS Service credits for compute costs</a:t>
            </a:r>
          </a:p>
          <a:p>
            <a:pPr marL="285750" indent="-285750">
              <a:buFont typeface="Arial" panose="020B0604020202020204" pitchFamily="34" charset="0"/>
              <a:buChar char="•"/>
            </a:pPr>
            <a:r>
              <a:rPr lang="en-US" dirty="0"/>
              <a:t>I documented the process for how participants would work in Hackathon</a:t>
            </a:r>
          </a:p>
          <a:p>
            <a:pPr marL="285750" indent="-285750">
              <a:buFont typeface="Arial" panose="020B0604020202020204" pitchFamily="34" charset="0"/>
              <a:buChar char="•"/>
            </a:pPr>
            <a:r>
              <a:rPr lang="en-US" dirty="0"/>
              <a:t>A colleague and I provide all operational support for the teams</a:t>
            </a:r>
          </a:p>
          <a:p>
            <a:pPr marL="285750" indent="-285750">
              <a:buFont typeface="Arial" panose="020B0604020202020204" pitchFamily="34" charset="0"/>
              <a:buChar char="•"/>
            </a:pPr>
            <a:r>
              <a:rPr lang="en-US" dirty="0"/>
              <a:t>I defined AWS organization and User Implementation</a:t>
            </a:r>
          </a:p>
          <a:p>
            <a:pPr marL="285750" indent="-285750">
              <a:buFont typeface="Arial" panose="020B0604020202020204" pitchFamily="34" charset="0"/>
              <a:buChar char="•"/>
            </a:pPr>
            <a:r>
              <a:rPr lang="en-US" dirty="0"/>
              <a:t>Created user and account structure; mentored a new college grad to implement scripts</a:t>
            </a:r>
          </a:p>
          <a:p>
            <a:pPr marL="285750" indent="-285750">
              <a:buFont typeface="Arial" panose="020B0604020202020204" pitchFamily="34" charset="0"/>
              <a:buChar char="•"/>
            </a:pPr>
            <a:r>
              <a:rPr lang="en-US" dirty="0"/>
              <a:t>Created participant instructions and documentation</a:t>
            </a:r>
          </a:p>
          <a:p>
            <a:pPr marL="285750" indent="-285750">
              <a:buFont typeface="Arial" panose="020B0604020202020204" pitchFamily="34" charset="0"/>
              <a:buChar char="•"/>
            </a:pPr>
            <a:r>
              <a:rPr lang="en-US" dirty="0"/>
              <a:t>Created security controls regulating participant actions and managed exceptions</a:t>
            </a:r>
          </a:p>
          <a:p>
            <a:pPr marL="285750" indent="-285750">
              <a:buFont typeface="Arial" panose="020B0604020202020204" pitchFamily="34" charset="0"/>
              <a:buChar char="•"/>
            </a:pPr>
            <a:r>
              <a:rPr lang="en-US" dirty="0"/>
              <a:t>Managed help Outlook DL and monitoring of budget and system usage</a:t>
            </a:r>
          </a:p>
          <a:p>
            <a:pPr marL="285750" indent="-285750">
              <a:buFont typeface="Arial" panose="020B0604020202020204" pitchFamily="34" charset="0"/>
              <a:buChar char="•"/>
            </a:pPr>
            <a:r>
              <a:rPr lang="en-US" dirty="0"/>
              <a:t>Managed and worked on account and user Clean up from hackathon</a:t>
            </a:r>
          </a:p>
          <a:p>
            <a:pPr marL="285750" indent="-285750">
              <a:buFont typeface="Arial" panose="020B0604020202020204" pitchFamily="34" charset="0"/>
              <a:buChar char="•"/>
            </a:pPr>
            <a:r>
              <a:rPr lang="en-US" dirty="0"/>
              <a:t>I managed deprovisioning and shut down of services, accounts, and users</a:t>
            </a:r>
          </a:p>
        </p:txBody>
      </p:sp>
    </p:spTree>
    <p:extLst>
      <p:ext uri="{BB962C8B-B14F-4D97-AF65-F5344CB8AC3E}">
        <p14:creationId xmlns:p14="http://schemas.microsoft.com/office/powerpoint/2010/main" val="3114328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676E08-7AF1-95EF-84D8-2C814459621E}"/>
              </a:ext>
            </a:extLst>
          </p:cNvPr>
          <p:cNvSpPr txBox="1"/>
          <p:nvPr/>
        </p:nvSpPr>
        <p:spPr>
          <a:xfrm>
            <a:off x="428946" y="1572215"/>
            <a:ext cx="9352052" cy="2585323"/>
          </a:xfrm>
          <a:prstGeom prst="rect">
            <a:avLst/>
          </a:prstGeom>
          <a:noFill/>
        </p:spPr>
        <p:txBody>
          <a:bodyPr wrap="square">
            <a:spAutoFit/>
          </a:bodyPr>
          <a:lstStyle/>
          <a:p>
            <a:r>
              <a:rPr lang="en-US" dirty="0"/>
              <a:t>We leveraged services from </a:t>
            </a:r>
            <a:r>
              <a:rPr lang="en-US" dirty="0" err="1"/>
              <a:t>onova</a:t>
            </a:r>
            <a:r>
              <a:rPr lang="en-US" dirty="0"/>
              <a:t> </a:t>
            </a:r>
          </a:p>
          <a:p>
            <a:endParaRPr lang="en-US" dirty="0"/>
          </a:p>
          <a:p>
            <a:r>
              <a:rPr lang="en-US" dirty="0"/>
              <a:t>Link to overview of Hackathon: </a:t>
            </a:r>
            <a:r>
              <a:rPr lang="en-US" dirty="0">
                <a:hlinkClick r:id="rId2"/>
              </a:rPr>
              <a:t>https://www.onova.io/capgemini-x-aws</a:t>
            </a:r>
            <a:br>
              <a:rPr lang="en-US" dirty="0"/>
            </a:br>
            <a:br>
              <a:rPr lang="en-US" dirty="0"/>
            </a:br>
            <a:br>
              <a:rPr lang="en-US" dirty="0"/>
            </a:br>
            <a:r>
              <a:rPr lang="en-US" dirty="0"/>
              <a:t>Venky Hosur (</a:t>
            </a:r>
            <a:r>
              <a:rPr lang="en-US" dirty="0">
                <a:hlinkClick r:id="rId3"/>
              </a:rPr>
              <a:t>mhosur@amazon.com</a:t>
            </a:r>
            <a:r>
              <a:rPr lang="en-US" dirty="0"/>
              <a:t>) can fill in any additional needed details of my involvement.</a:t>
            </a:r>
          </a:p>
          <a:p>
            <a:endParaRPr lang="en-US" dirty="0"/>
          </a:p>
          <a:p>
            <a:endParaRPr lang="en-US" dirty="0"/>
          </a:p>
        </p:txBody>
      </p:sp>
    </p:spTree>
    <p:extLst>
      <p:ext uri="{BB962C8B-B14F-4D97-AF65-F5344CB8AC3E}">
        <p14:creationId xmlns:p14="http://schemas.microsoft.com/office/powerpoint/2010/main" val="1721133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02F-8C89-4304-FE99-34993E0C01A4}"/>
              </a:ext>
            </a:extLst>
          </p:cNvPr>
          <p:cNvSpPr txBox="1"/>
          <p:nvPr/>
        </p:nvSpPr>
        <p:spPr>
          <a:xfrm>
            <a:off x="369870" y="523982"/>
            <a:ext cx="10644027" cy="6186309"/>
          </a:xfrm>
          <a:prstGeom prst="rect">
            <a:avLst/>
          </a:prstGeom>
          <a:noFill/>
        </p:spPr>
        <p:txBody>
          <a:bodyPr wrap="square" rtlCol="0">
            <a:spAutoFit/>
          </a:bodyPr>
          <a:lstStyle/>
          <a:p>
            <a:r>
              <a:rPr lang="en-US" dirty="0"/>
              <a:t>mgeiser.net is a domain I’ve had for a long time and I use </a:t>
            </a:r>
            <a:r>
              <a:rPr lang="en-US" dirty="0">
                <a:hlinkClick r:id="rId2"/>
              </a:rPr>
              <a:t>Mgeiser@mgeiser.net</a:t>
            </a:r>
            <a:r>
              <a:rPr lang="en-US" dirty="0"/>
              <a:t> as my primary personal email</a:t>
            </a:r>
          </a:p>
          <a:p>
            <a:endParaRPr lang="en-US" dirty="0"/>
          </a:p>
          <a:p>
            <a:r>
              <a:rPr lang="en-US" dirty="0"/>
              <a:t>I have the mail server provided via namecheap.com</a:t>
            </a:r>
          </a:p>
          <a:p>
            <a:endParaRPr lang="en-US" dirty="0"/>
          </a:p>
          <a:p>
            <a:r>
              <a:rPr lang="en-US" dirty="0"/>
              <a:t>In order to effectively manage the over 180 active accounts in the hackathon, I used </a:t>
            </a:r>
            <a:r>
              <a:rPr lang="en-US" dirty="0">
                <a:hlinkClick r:id="rId3"/>
              </a:rPr>
              <a:t>aws_hackathon@mgeiser.net</a:t>
            </a:r>
            <a:r>
              <a:rPr lang="en-US" dirty="0"/>
              <a:t> as the root for the AWS Organization and 215 email alias as the email for the root account login for the 215 member accounts provisioned.</a:t>
            </a:r>
          </a:p>
          <a:p>
            <a:endParaRPr lang="en-US" dirty="0"/>
          </a:p>
          <a:p>
            <a:r>
              <a:rPr lang="en-US" dirty="0"/>
              <a:t>This approached allowed me to receive all emails related to the Organization management account and all member accounts in one email inbox.  </a:t>
            </a:r>
          </a:p>
          <a:p>
            <a:endParaRPr lang="en-US" dirty="0"/>
          </a:p>
          <a:p>
            <a:r>
              <a:rPr lang="en-US" dirty="0"/>
              <a:t>By using this design, I was able to manage requests that skirted the SCPs established.  For example, the request by one team for a ml.p4d.24xlarge instance. </a:t>
            </a:r>
          </a:p>
          <a:p>
            <a:endParaRPr lang="en-US" dirty="0"/>
          </a:p>
          <a:p>
            <a:r>
              <a:rPr lang="en-US" dirty="0"/>
              <a:t>All internal support email from the teams went to an Outlook DL I created when went to me and a new college grad I had assisting.</a:t>
            </a:r>
          </a:p>
          <a:p>
            <a:endParaRPr lang="en-US" dirty="0"/>
          </a:p>
          <a:p>
            <a:r>
              <a:rPr lang="en-US" dirty="0"/>
              <a:t>I also submitted three feature requests through Venky Hosur (</a:t>
            </a:r>
            <a:r>
              <a:rPr lang="en-US" dirty="0">
                <a:hlinkClick r:id="rId4"/>
              </a:rPr>
              <a:t>mhosur@amazon.com</a:t>
            </a:r>
            <a:r>
              <a:rPr lang="en-US" dirty="0"/>
              <a:t>)  and Niko Borodachuk (nikobrd@amazon.com)</a:t>
            </a:r>
          </a:p>
          <a:p>
            <a:r>
              <a:rPr lang="en-US" dirty="0"/>
              <a:t>see slide notes of last slide for content the submitted requests.</a:t>
            </a:r>
          </a:p>
          <a:p>
            <a:endParaRPr lang="en-US" dirty="0"/>
          </a:p>
        </p:txBody>
      </p:sp>
    </p:spTree>
    <p:extLst>
      <p:ext uri="{BB962C8B-B14F-4D97-AF65-F5344CB8AC3E}">
        <p14:creationId xmlns:p14="http://schemas.microsoft.com/office/powerpoint/2010/main" val="1300429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9F5706-5540-165A-5337-C5A3A4217A43}"/>
              </a:ext>
            </a:extLst>
          </p:cNvPr>
          <p:cNvPicPr>
            <a:picLocks noChangeAspect="1"/>
          </p:cNvPicPr>
          <p:nvPr/>
        </p:nvPicPr>
        <p:blipFill>
          <a:blip r:embed="rId2"/>
          <a:stretch>
            <a:fillRect/>
          </a:stretch>
        </p:blipFill>
        <p:spPr>
          <a:xfrm>
            <a:off x="534256" y="453598"/>
            <a:ext cx="10650681" cy="5803364"/>
          </a:xfrm>
          <a:prstGeom prst="rect">
            <a:avLst/>
          </a:prstGeom>
        </p:spPr>
      </p:pic>
    </p:spTree>
    <p:extLst>
      <p:ext uri="{BB962C8B-B14F-4D97-AF65-F5344CB8AC3E}">
        <p14:creationId xmlns:p14="http://schemas.microsoft.com/office/powerpoint/2010/main" val="217804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B1894B-755F-DAD6-1C47-1D4480EB7F76}"/>
              </a:ext>
            </a:extLst>
          </p:cNvPr>
          <p:cNvPicPr>
            <a:picLocks noChangeAspect="1"/>
          </p:cNvPicPr>
          <p:nvPr/>
        </p:nvPicPr>
        <p:blipFill>
          <a:blip r:embed="rId2"/>
          <a:stretch>
            <a:fillRect/>
          </a:stretch>
        </p:blipFill>
        <p:spPr>
          <a:xfrm>
            <a:off x="1119883" y="1139890"/>
            <a:ext cx="9572090" cy="5058667"/>
          </a:xfrm>
          <a:prstGeom prst="rect">
            <a:avLst/>
          </a:prstGeom>
        </p:spPr>
      </p:pic>
    </p:spTree>
    <p:extLst>
      <p:ext uri="{BB962C8B-B14F-4D97-AF65-F5344CB8AC3E}">
        <p14:creationId xmlns:p14="http://schemas.microsoft.com/office/powerpoint/2010/main" val="1698375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965378-7D8B-A64E-11B8-EDBCA6682411}"/>
              </a:ext>
            </a:extLst>
          </p:cNvPr>
          <p:cNvPicPr>
            <a:picLocks noChangeAspect="1"/>
          </p:cNvPicPr>
          <p:nvPr/>
        </p:nvPicPr>
        <p:blipFill>
          <a:blip r:embed="rId2"/>
          <a:stretch>
            <a:fillRect/>
          </a:stretch>
        </p:blipFill>
        <p:spPr>
          <a:xfrm>
            <a:off x="1969851" y="0"/>
            <a:ext cx="8252297" cy="6858000"/>
          </a:xfrm>
          <a:prstGeom prst="rect">
            <a:avLst/>
          </a:prstGeom>
        </p:spPr>
      </p:pic>
    </p:spTree>
    <p:extLst>
      <p:ext uri="{BB962C8B-B14F-4D97-AF65-F5344CB8AC3E}">
        <p14:creationId xmlns:p14="http://schemas.microsoft.com/office/powerpoint/2010/main" val="3589163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C4C6D4-242D-93A2-4DCA-AA0437189CB8}"/>
              </a:ext>
            </a:extLst>
          </p:cNvPr>
          <p:cNvPicPr>
            <a:picLocks noChangeAspect="1"/>
          </p:cNvPicPr>
          <p:nvPr/>
        </p:nvPicPr>
        <p:blipFill>
          <a:blip r:embed="rId2"/>
          <a:stretch>
            <a:fillRect/>
          </a:stretch>
        </p:blipFill>
        <p:spPr>
          <a:xfrm>
            <a:off x="579820" y="501767"/>
            <a:ext cx="5348369" cy="5854465"/>
          </a:xfrm>
          <a:prstGeom prst="rect">
            <a:avLst/>
          </a:prstGeom>
        </p:spPr>
      </p:pic>
    </p:spTree>
    <p:extLst>
      <p:ext uri="{BB962C8B-B14F-4D97-AF65-F5344CB8AC3E}">
        <p14:creationId xmlns:p14="http://schemas.microsoft.com/office/powerpoint/2010/main" val="424057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92CDC0-ED65-2CBB-B984-ADFE5A179979}"/>
              </a:ext>
            </a:extLst>
          </p:cNvPr>
          <p:cNvSpPr txBox="1"/>
          <p:nvPr/>
        </p:nvSpPr>
        <p:spPr>
          <a:xfrm>
            <a:off x="390418" y="554805"/>
            <a:ext cx="10392140" cy="3139321"/>
          </a:xfrm>
          <a:prstGeom prst="rect">
            <a:avLst/>
          </a:prstGeom>
          <a:noFill/>
        </p:spPr>
        <p:txBody>
          <a:bodyPr wrap="none" rtlCol="0">
            <a:spAutoFit/>
          </a:bodyPr>
          <a:lstStyle/>
          <a:p>
            <a:r>
              <a:rPr lang="en-US" dirty="0"/>
              <a:t>Submitted Feature requests </a:t>
            </a:r>
          </a:p>
          <a:p>
            <a:endParaRPr lang="en-US" dirty="0"/>
          </a:p>
          <a:p>
            <a:r>
              <a:rPr lang="en-US" dirty="0"/>
              <a:t>These where submitted via Capgemini’s dedicated Solution Architects</a:t>
            </a:r>
          </a:p>
          <a:p>
            <a:endParaRPr lang="en-US" dirty="0"/>
          </a:p>
          <a:p>
            <a:r>
              <a:rPr lang="en-US" dirty="0"/>
              <a:t>Feature Request</a:t>
            </a:r>
          </a:p>
          <a:p>
            <a:pPr marL="342900" indent="-342900">
              <a:buFont typeface="+mj-lt"/>
              <a:buAutoNum type="arabicPeriod"/>
            </a:pPr>
            <a:r>
              <a:rPr lang="en-US" b="1" dirty="0"/>
              <a:t>The Lack of an AWS Identity Center API to Disable Users is a Security Concern and inconsistent</a:t>
            </a:r>
          </a:p>
          <a:p>
            <a:pPr marL="342900" indent="-342900">
              <a:buFont typeface="+mj-lt"/>
              <a:buAutoNum type="arabicPeriod"/>
            </a:pPr>
            <a:r>
              <a:rPr lang="en-US" sz="1800" b="1" dirty="0">
                <a:solidFill>
                  <a:srgbClr val="000000"/>
                </a:solidFill>
                <a:effectLst/>
                <a:latin typeface="Aptos" panose="020B0004020202020204" pitchFamily="34" charset="0"/>
              </a:rPr>
              <a:t>Request to Revise AWS Organization's Account Closure Service Quota Limit</a:t>
            </a:r>
          </a:p>
          <a:p>
            <a:pPr marL="342900" indent="-342900">
              <a:buFont typeface="+mj-lt"/>
              <a:buAutoNum type="arabicPeriod"/>
            </a:pPr>
            <a:r>
              <a:rPr lang="en-US" sz="1800" b="1" dirty="0">
                <a:effectLst/>
                <a:latin typeface="Calibri" panose="020F0502020204030204" pitchFamily="34" charset="0"/>
              </a:rPr>
              <a:t>Feature Request: "Factory Reset" Functionality for AWS Accounts</a:t>
            </a:r>
            <a:endParaRPr lang="en-US" sz="1800" dirty="0">
              <a:effectLst/>
              <a:latin typeface="Calibri" panose="020F0502020204030204" pitchFamily="34" charset="0"/>
            </a:endParaRPr>
          </a:p>
          <a:p>
            <a:endParaRPr lang="en-US" sz="1800" dirty="0">
              <a:solidFill>
                <a:srgbClr val="000000"/>
              </a:solidFill>
              <a:effectLst/>
              <a:latin typeface="Aptos" panose="020B0004020202020204" pitchFamily="34" charset="0"/>
            </a:endParaRPr>
          </a:p>
          <a:p>
            <a:r>
              <a:rPr lang="en-US" dirty="0"/>
              <a:t>The content of the requests are in the slide notes; they are too long to fit on a slide</a:t>
            </a:r>
          </a:p>
          <a:p>
            <a:endParaRPr lang="en-US" dirty="0"/>
          </a:p>
        </p:txBody>
      </p:sp>
    </p:spTree>
    <p:extLst>
      <p:ext uri="{BB962C8B-B14F-4D97-AF65-F5344CB8AC3E}">
        <p14:creationId xmlns:p14="http://schemas.microsoft.com/office/powerpoint/2010/main" val="270010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3252</Words>
  <Application>Microsoft Office PowerPoint</Application>
  <PresentationFormat>Widescreen</PresentationFormat>
  <Paragraphs>162</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Geiser, Michael J</dc:creator>
  <cp:lastModifiedBy>Geiser, Michael J</cp:lastModifiedBy>
  <cp:revision>3</cp:revision>
  <dcterms:created xsi:type="dcterms:W3CDTF">2025-05-05T17:18:36Z</dcterms:created>
  <dcterms:modified xsi:type="dcterms:W3CDTF">2025-05-05T18:13:41Z</dcterms:modified>
</cp:coreProperties>
</file>